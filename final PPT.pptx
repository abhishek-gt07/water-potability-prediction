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1"/>
  </p:sldMasterIdLst>
  <p:sldIdLst>
    <p:sldId id="256" r:id="rId2"/>
    <p:sldId id="257"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6" d="100"/>
          <a:sy n="96" d="100"/>
        </p:scale>
        <p:origin x="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076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B3A1323-8D79-1946-B0D7-40001CF92E9D}"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730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403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3136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4/5/2026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499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13A34C8-038E-2045-AF43-DF7DBB8E0E9E}" type="datetimeFigureOut">
              <a:rPr lang="en-US" smtClean="0"/>
              <a:pPr/>
              <a:t>4/5/2026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75590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818C68F-D26B-8F47-958C-23B49CF8A634}" type="datetimeFigureOut">
              <a:rPr lang="en-US" smtClean="0"/>
              <a:pPr/>
              <a:t>4/5/2026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0810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0DF5E60-9974-AC48-9591-99C2BB44B7CF}" type="datetimeFigureOut">
              <a:rPr lang="en-US" smtClean="0"/>
              <a:pPr/>
              <a:t>4/5/2026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2688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046257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42896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20120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3913706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56444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398214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9B482E8-6E0E-1B4F-B1FD-C69DB9E858D9}" type="datetimeFigureOut">
              <a:rPr lang="en-US" smtClean="0"/>
              <a:pPr/>
              <a:t>4/5/2026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42335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5213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65333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9B482E8-6E0E-1B4F-B1FD-C69DB9E858D9}" type="datetimeFigureOut">
              <a:rPr lang="en-US" smtClean="0"/>
              <a:pPr/>
              <a:t>4/5/2026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2521016"/>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3791C7-49C8-8176-9AA8-B36B44EC56FB}"/>
              </a:ext>
            </a:extLst>
          </p:cNvPr>
          <p:cNvSpPr/>
          <p:nvPr/>
        </p:nvSpPr>
        <p:spPr>
          <a:xfrm>
            <a:off x="-1314450" y="477253"/>
            <a:ext cx="12192000" cy="29517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omic Sans MS" panose="030F0702030302020204" pitchFamily="66" charset="0"/>
              </a:rPr>
              <a:t>Water Potability Prediction</a:t>
            </a:r>
          </a:p>
          <a:p>
            <a:pPr algn="ctr"/>
            <a:r>
              <a:rPr lang="en-US" sz="4400" b="1" dirty="0">
                <a:latin typeface="Comic Sans MS" panose="030F0702030302020204" pitchFamily="66" charset="0"/>
              </a:rPr>
              <a:t>With Machine Learning </a:t>
            </a:r>
          </a:p>
        </p:txBody>
      </p:sp>
      <p:sp>
        <p:nvSpPr>
          <p:cNvPr id="5" name="Subtitle 2">
            <a:extLst>
              <a:ext uri="{FF2B5EF4-FFF2-40B4-BE49-F238E27FC236}">
                <a16:creationId xmlns:a16="http://schemas.microsoft.com/office/drawing/2014/main" id="{F052A002-ACB6-E583-2DA7-A32CBDB29E14}"/>
              </a:ext>
            </a:extLst>
          </p:cNvPr>
          <p:cNvSpPr>
            <a:spLocks noGrp="1"/>
          </p:cNvSpPr>
          <p:nvPr>
            <p:ph type="subTitle" idx="1"/>
          </p:nvPr>
        </p:nvSpPr>
        <p:spPr>
          <a:xfrm>
            <a:off x="7825176" y="3911965"/>
            <a:ext cx="3310909" cy="2080621"/>
          </a:xfrm>
        </p:spPr>
        <p:txBody>
          <a:bodyPr>
            <a:normAutofit lnSpcReduction="10000"/>
          </a:bodyPr>
          <a:lstStyle/>
          <a:p>
            <a:r>
              <a:rPr lang="en-IN" dirty="0">
                <a:latin typeface="Comic Sans MS" panose="030F0702030302020204" pitchFamily="66" charset="0"/>
              </a:rPr>
              <a:t>Team members:</a:t>
            </a:r>
          </a:p>
          <a:p>
            <a:pPr marL="342900" indent="-342900">
              <a:buClr>
                <a:srgbClr val="FF0000"/>
              </a:buClr>
              <a:buFont typeface="Wingdings" panose="05000000000000000000" pitchFamily="2" charset="2"/>
              <a:buChar char="Ø"/>
            </a:pPr>
            <a:r>
              <a:rPr lang="en-IN" dirty="0">
                <a:latin typeface="Comic Sans MS" panose="030F0702030302020204" pitchFamily="66" charset="0"/>
              </a:rPr>
              <a:t>Abhishek kumar </a:t>
            </a:r>
          </a:p>
          <a:p>
            <a:pPr marL="342900" indent="-342900">
              <a:buClr>
                <a:srgbClr val="FF0000"/>
              </a:buClr>
              <a:buFont typeface="Wingdings" panose="05000000000000000000" pitchFamily="2" charset="2"/>
              <a:buChar char="Ø"/>
            </a:pPr>
            <a:r>
              <a:rPr lang="en-IN" dirty="0">
                <a:latin typeface="Comic Sans MS" panose="030F0702030302020204" pitchFamily="66" charset="0"/>
              </a:rPr>
              <a:t>Aniket Dubey </a:t>
            </a:r>
          </a:p>
          <a:p>
            <a:pPr marL="342900" indent="-342900">
              <a:buClr>
                <a:srgbClr val="FF0000"/>
              </a:buClr>
              <a:buFont typeface="Wingdings" panose="05000000000000000000" pitchFamily="2" charset="2"/>
              <a:buChar char="Ø"/>
            </a:pPr>
            <a:r>
              <a:rPr lang="en-IN" dirty="0">
                <a:latin typeface="Comic Sans MS" panose="030F0702030302020204" pitchFamily="66" charset="0"/>
              </a:rPr>
              <a:t>Lavanya Gupta</a:t>
            </a:r>
          </a:p>
          <a:p>
            <a:pPr marL="342900" indent="-342900">
              <a:buClr>
                <a:srgbClr val="FF0000"/>
              </a:buClr>
              <a:buFont typeface="Wingdings" panose="05000000000000000000" pitchFamily="2" charset="2"/>
              <a:buChar char="Ø"/>
            </a:pPr>
            <a:r>
              <a:rPr lang="en-IN" dirty="0">
                <a:latin typeface="Comic Sans MS" panose="030F0702030302020204" pitchFamily="66" charset="0"/>
              </a:rPr>
              <a:t>Harsh Bharadwaj</a:t>
            </a:r>
          </a:p>
          <a:p>
            <a:pPr marL="342900" indent="-342900">
              <a:buClr>
                <a:srgbClr val="FF2121"/>
              </a:buClr>
              <a:buFont typeface="Wingdings" panose="05000000000000000000" pitchFamily="2" charset="2"/>
              <a:buChar char="Ø"/>
            </a:pPr>
            <a:endParaRPr lang="en-IN" dirty="0">
              <a:solidFill>
                <a:schemeClr val="accent1">
                  <a:lumMod val="60000"/>
                  <a:lumOff val="40000"/>
                </a:schemeClr>
              </a:solidFill>
            </a:endParaRPr>
          </a:p>
        </p:txBody>
      </p:sp>
    </p:spTree>
    <p:extLst>
      <p:ext uri="{BB962C8B-B14F-4D97-AF65-F5344CB8AC3E}">
        <p14:creationId xmlns:p14="http://schemas.microsoft.com/office/powerpoint/2010/main" val="2602544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53329F-18FE-B28D-A849-2B42BDEEBAD2}"/>
              </a:ext>
            </a:extLst>
          </p:cNvPr>
          <p:cNvSpPr txBox="1">
            <a:spLocks/>
          </p:cNvSpPr>
          <p:nvPr/>
        </p:nvSpPr>
        <p:spPr>
          <a:xfrm>
            <a:off x="352313" y="723399"/>
            <a:ext cx="10834234" cy="612775"/>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Agenda:</a:t>
            </a:r>
            <a:endParaRPr lang="en-IN" dirty="0"/>
          </a:p>
        </p:txBody>
      </p:sp>
      <p:sp>
        <p:nvSpPr>
          <p:cNvPr id="5" name="Content Placeholder 2">
            <a:extLst>
              <a:ext uri="{FF2B5EF4-FFF2-40B4-BE49-F238E27FC236}">
                <a16:creationId xmlns:a16="http://schemas.microsoft.com/office/drawing/2014/main" id="{086D6C07-E1C1-11BD-B4B4-3944A1C1A191}"/>
              </a:ext>
            </a:extLst>
          </p:cNvPr>
          <p:cNvSpPr txBox="1">
            <a:spLocks/>
          </p:cNvSpPr>
          <p:nvPr/>
        </p:nvSpPr>
        <p:spPr>
          <a:xfrm>
            <a:off x="368968" y="1355558"/>
            <a:ext cx="6358403" cy="5023971"/>
          </a:xfrm>
          <a:prstGeom prst="rect">
            <a:avLst/>
          </a:prstGeom>
        </p:spPr>
        <p:txBody>
          <a:bodyPr vert="horz" lIns="91440" tIns="45720" rIns="91440" bIns="45720" rtlCol="0" anchor="t">
            <a:normAutofit fontScale="92500"/>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0" i="0" kern="1200" cap="all">
                <a:solidFill>
                  <a:schemeClr val="bg2">
                    <a:lumMod val="40000"/>
                    <a:lumOff val="60000"/>
                  </a:schemeClr>
                </a:solidFill>
                <a:latin typeface="+mj-lt"/>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9pPr>
          </a:lstStyle>
          <a:p>
            <a:r>
              <a:rPr lang="en-IN" sz="2400"/>
              <a:t>The importance of potable (safe or drinkable)water cannot be overstated, as it is fundamental to human health, development and quality of life. </a:t>
            </a:r>
          </a:p>
          <a:p>
            <a:r>
              <a:rPr lang="en-IN" sz="2400"/>
              <a:t>There are some key reasons why potable water is critical:</a:t>
            </a:r>
          </a:p>
          <a:p>
            <a:r>
              <a:rPr lang="en-IN"/>
              <a:t>	</a:t>
            </a:r>
            <a:r>
              <a:rPr lang="en-IN" sz="2400"/>
              <a:t>1) Health &amp; Disease Prevention</a:t>
            </a:r>
          </a:p>
          <a:p>
            <a:r>
              <a:rPr lang="en-IN" sz="2400"/>
              <a:t>	2) Support Nutrition &amp; Food Safety</a:t>
            </a:r>
          </a:p>
          <a:p>
            <a:r>
              <a:rPr lang="en-IN" sz="2400"/>
              <a:t>	3) Economic &amp; Social Development</a:t>
            </a:r>
          </a:p>
          <a:p>
            <a:r>
              <a:rPr lang="en-IN" sz="2400"/>
              <a:t>	4) Environment &amp; Sustainability benefits</a:t>
            </a:r>
          </a:p>
          <a:p>
            <a:r>
              <a:rPr lang="en-IN" sz="2400"/>
              <a:t>	5) Human Rights &amp; Equity</a:t>
            </a:r>
            <a:endParaRPr lang="en-IN" sz="2400" dirty="0"/>
          </a:p>
        </p:txBody>
      </p:sp>
      <p:pic>
        <p:nvPicPr>
          <p:cNvPr id="6" name="Picture 5">
            <a:extLst>
              <a:ext uri="{FF2B5EF4-FFF2-40B4-BE49-F238E27FC236}">
                <a16:creationId xmlns:a16="http://schemas.microsoft.com/office/drawing/2014/main" id="{F3C85AC2-066E-086D-D509-028B81133F4A}"/>
              </a:ext>
            </a:extLst>
          </p:cNvPr>
          <p:cNvPicPr>
            <a:picLocks noChangeAspect="1"/>
          </p:cNvPicPr>
          <p:nvPr/>
        </p:nvPicPr>
        <p:blipFill>
          <a:blip r:embed="rId2"/>
          <a:stretch>
            <a:fillRect/>
          </a:stretch>
        </p:blipFill>
        <p:spPr>
          <a:xfrm>
            <a:off x="6727371" y="1588323"/>
            <a:ext cx="5181343" cy="4558440"/>
          </a:xfrm>
          <a:prstGeom prst="rect">
            <a:avLst/>
          </a:prstGeom>
        </p:spPr>
      </p:pic>
    </p:spTree>
    <p:extLst>
      <p:ext uri="{BB962C8B-B14F-4D97-AF65-F5344CB8AC3E}">
        <p14:creationId xmlns:p14="http://schemas.microsoft.com/office/powerpoint/2010/main" val="919586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CC3A0EF-EF8A-8975-E0F5-C0AD5584D21C}"/>
              </a:ext>
            </a:extLst>
          </p:cNvPr>
          <p:cNvSpPr txBox="1">
            <a:spLocks/>
          </p:cNvSpPr>
          <p:nvPr/>
        </p:nvSpPr>
        <p:spPr>
          <a:xfrm>
            <a:off x="293914" y="293914"/>
            <a:ext cx="11219204" cy="5779227"/>
          </a:xfrm>
          <a:prstGeom prst="rect">
            <a:avLst/>
          </a:prstGeom>
        </p:spPr>
        <p:txBody>
          <a:bodyPr>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bg2">
                    <a:lumMod val="10000"/>
                  </a:schemeClr>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bg2">
                    <a:lumMod val="10000"/>
                  </a:schemeClr>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bg2">
                    <a:lumMod val="10000"/>
                  </a:schemeClr>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bg2">
                    <a:lumMod val="10000"/>
                  </a:schemeClr>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bg2">
                    <a:lumMod val="10000"/>
                  </a:schemeClr>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2300">
                <a:solidFill>
                  <a:schemeClr val="tx1"/>
                </a:solidFill>
              </a:rPr>
              <a:t>Water potability prediction involves assessing whether water is safe for human consumption by analyzing various physicochemical properties. This can be a supervised machine learning problem, where we classify water samples as potable or non-potable based on certain indicators.</a:t>
            </a:r>
          </a:p>
          <a:p>
            <a:pPr marL="0" indent="0">
              <a:buFont typeface="Wingdings 3" charset="2"/>
              <a:buNone/>
            </a:pPr>
            <a:r>
              <a:rPr lang="en-US" sz="2300">
                <a:solidFill>
                  <a:schemeClr val="tx1"/>
                </a:solidFill>
              </a:rPr>
              <a:t>Here's a typical approach to build a predictive model.</a:t>
            </a:r>
          </a:p>
          <a:p>
            <a:pPr marL="0" indent="0">
              <a:buFont typeface="Wingdings 3" charset="2"/>
              <a:buNone/>
            </a:pPr>
            <a:r>
              <a:rPr lang="en-US" sz="2300">
                <a:solidFill>
                  <a:schemeClr val="tx1"/>
                </a:solidFill>
              </a:rPr>
              <a:t>Data Collection: Gather a dataset with water quality parameters and labels indicating whether the water is potable. Common datasets include physicochemical properties such as:</a:t>
            </a:r>
          </a:p>
          <a:p>
            <a:r>
              <a:rPr lang="en-US" sz="1800">
                <a:solidFill>
                  <a:schemeClr val="tx1"/>
                </a:solidFill>
              </a:rPr>
              <a:t>Ph</a:t>
            </a:r>
          </a:p>
          <a:p>
            <a:r>
              <a:rPr lang="en-US" sz="1800">
                <a:solidFill>
                  <a:schemeClr val="tx1"/>
                </a:solidFill>
              </a:rPr>
              <a:t>Hardness</a:t>
            </a:r>
          </a:p>
          <a:p>
            <a:r>
              <a:rPr lang="en-US" sz="1800">
                <a:solidFill>
                  <a:schemeClr val="tx1"/>
                </a:solidFill>
              </a:rPr>
              <a:t>Solids(dissolved solids)</a:t>
            </a:r>
          </a:p>
          <a:p>
            <a:r>
              <a:rPr lang="en-US" sz="1800">
                <a:solidFill>
                  <a:schemeClr val="tx1"/>
                </a:solidFill>
              </a:rPr>
              <a:t>Chloramines</a:t>
            </a:r>
          </a:p>
          <a:p>
            <a:r>
              <a:rPr lang="en-US" sz="1800">
                <a:solidFill>
                  <a:schemeClr val="tx1"/>
                </a:solidFill>
              </a:rPr>
              <a:t>Sulfate</a:t>
            </a:r>
          </a:p>
          <a:p>
            <a:r>
              <a:rPr lang="en-US" sz="1800">
                <a:solidFill>
                  <a:schemeClr val="tx1"/>
                </a:solidFill>
              </a:rPr>
              <a:t>Conductivity-Organic Carbon</a:t>
            </a:r>
          </a:p>
          <a:p>
            <a:r>
              <a:rPr lang="en-US" sz="1800">
                <a:solidFill>
                  <a:schemeClr val="tx1"/>
                </a:solidFill>
              </a:rPr>
              <a:t>Trihalomethanes</a:t>
            </a:r>
          </a:p>
          <a:p>
            <a:r>
              <a:rPr lang="en-US" sz="1800">
                <a:solidFill>
                  <a:schemeClr val="tx1"/>
                </a:solidFill>
              </a:rPr>
              <a:t>Turbidity</a:t>
            </a:r>
            <a:endParaRPr lang="en-US" sz="1800" dirty="0">
              <a:solidFill>
                <a:schemeClr val="tx1"/>
              </a:solidFill>
            </a:endParaRPr>
          </a:p>
        </p:txBody>
      </p:sp>
    </p:spTree>
    <p:extLst>
      <p:ext uri="{BB962C8B-B14F-4D97-AF65-F5344CB8AC3E}">
        <p14:creationId xmlns:p14="http://schemas.microsoft.com/office/powerpoint/2010/main" val="3575139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1EA7B3C-01BA-DC20-7313-DA3F1A3D5F2D}"/>
              </a:ext>
            </a:extLst>
          </p:cNvPr>
          <p:cNvSpPr txBox="1">
            <a:spLocks/>
          </p:cNvSpPr>
          <p:nvPr/>
        </p:nvSpPr>
        <p:spPr>
          <a:xfrm>
            <a:off x="189023" y="309751"/>
            <a:ext cx="10503040" cy="596628"/>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a:t>Technology Used:</a:t>
            </a:r>
            <a:endParaRPr lang="en-IN" dirty="0"/>
          </a:p>
        </p:txBody>
      </p:sp>
      <p:sp>
        <p:nvSpPr>
          <p:cNvPr id="3" name="Rectangle 2">
            <a:extLst>
              <a:ext uri="{FF2B5EF4-FFF2-40B4-BE49-F238E27FC236}">
                <a16:creationId xmlns:a16="http://schemas.microsoft.com/office/drawing/2014/main" id="{BA53F74E-6B61-FAE0-917B-113F11E90DCA}"/>
              </a:ext>
            </a:extLst>
          </p:cNvPr>
          <p:cNvSpPr>
            <a:spLocks noChangeArrowheads="1"/>
          </p:cNvSpPr>
          <p:nvPr/>
        </p:nvSpPr>
        <p:spPr bwMode="auto">
          <a:xfrm>
            <a:off x="646223" y="1175221"/>
            <a:ext cx="5903495"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Pandas</a:t>
            </a:r>
            <a:r>
              <a:rPr kumimoji="0" lang="en-US" altLang="en-US" sz="1600" b="0" i="0" u="none" strike="noStrike" cap="none" normalizeH="0" baseline="0" dirty="0">
                <a:ln>
                  <a:noFill/>
                </a:ln>
                <a:solidFill>
                  <a:schemeClr val="tx1"/>
                </a:solidFill>
                <a:effectLst/>
                <a:latin typeface="Arial" panose="020B0604020202020204" pitchFamily="34" charset="0"/>
              </a:rPr>
              <a:t> is used for data manipulation and analysis, 	making it easy to handle and clean datasets.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NumPy</a:t>
            </a:r>
            <a:r>
              <a:rPr kumimoji="0" lang="en-US" altLang="en-US" sz="1600" b="0" i="0" u="none" strike="noStrike" cap="none" normalizeH="0" baseline="0" dirty="0">
                <a:ln>
                  <a:noFill/>
                </a:ln>
                <a:solidFill>
                  <a:schemeClr val="tx1"/>
                </a:solidFill>
                <a:effectLst/>
                <a:latin typeface="Arial" panose="020B0604020202020204" pitchFamily="34" charset="0"/>
              </a:rPr>
              <a:t> supports numerical computing by providing 	arrays and mathematical functions for efficient 	calculations.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Seaborn</a:t>
            </a:r>
            <a:r>
              <a:rPr kumimoji="0" lang="en-US" altLang="en-US" sz="1600" b="0" i="0" u="none" strike="noStrike" cap="none" normalizeH="0" baseline="0" dirty="0">
                <a:ln>
                  <a:noFill/>
                </a:ln>
                <a:solidFill>
                  <a:schemeClr val="tx1"/>
                </a:solidFill>
                <a:effectLst/>
                <a:latin typeface="Arial" panose="020B0604020202020204" pitchFamily="34" charset="0"/>
              </a:rPr>
              <a:t> is used to create attractive and meaningful 	statistical graphics for data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Matplotlib</a:t>
            </a:r>
            <a:r>
              <a:rPr kumimoji="0" lang="en-US" altLang="en-US" sz="1600" b="0" i="0" u="none" strike="noStrike" cap="none" normalizeH="0" baseline="0" dirty="0">
                <a:ln>
                  <a:noFill/>
                </a:ln>
                <a:solidFill>
                  <a:schemeClr val="tx1"/>
                </a:solidFill>
                <a:effectLst/>
                <a:latin typeface="Arial" panose="020B0604020202020204" pitchFamily="34" charset="0"/>
              </a:rPr>
              <a:t> helps in generating static, interactive, and 	animated visualizations.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kumimoji="0" lang="en-IN" altLang="en-US" sz="1600" b="1" i="0" u="none" strike="noStrike" cap="none" normalizeH="0" baseline="0" dirty="0" err="1">
                <a:ln>
                  <a:noFill/>
                </a:ln>
                <a:solidFill>
                  <a:schemeClr val="tx1"/>
                </a:solidFill>
                <a:effectLst/>
                <a:latin typeface="Arial" panose="020B0604020202020204" pitchFamily="34" charset="0"/>
              </a:rPr>
              <a:t>Pydotplus</a:t>
            </a:r>
            <a:r>
              <a:rPr kumimoji="0" lang="en-US" altLang="en-US" sz="1600" b="0" i="0" u="none" strike="noStrike" cap="none" normalizeH="0" baseline="0" dirty="0">
                <a:ln>
                  <a:noFill/>
                </a:ln>
                <a:solidFill>
                  <a:schemeClr val="tx1"/>
                </a:solidFill>
                <a:effectLst/>
                <a:latin typeface="Arial" panose="020B0604020202020204" pitchFamily="34" charset="0"/>
              </a:rPr>
              <a:t> is used for interactive and web-friendly charts 	with scikit-learn library.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Scikit-learn (</a:t>
            </a:r>
            <a:r>
              <a:rPr kumimoji="0" lang="en-US" altLang="en-US" sz="1600" b="1" i="0" u="none" strike="noStrike" cap="none" normalizeH="0" baseline="0" dirty="0" err="1">
                <a:ln>
                  <a:noFill/>
                </a:ln>
                <a:solidFill>
                  <a:schemeClr val="tx1"/>
                </a:solidFill>
                <a:effectLst/>
                <a:latin typeface="Arial" panose="020B0604020202020204" pitchFamily="34" charset="0"/>
              </a:rPr>
              <a:t>Sklearn</a:t>
            </a:r>
            <a:r>
              <a:rPr kumimoji="0" lang="en-US" altLang="en-US" sz="1600" b="1"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 is used for machine learning 	tasks such as classification, regression, and 	clustering.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a:latin typeface="Arial" panose="020B0604020202020204" pitchFamily="34" charset="0"/>
              </a:rPr>
              <a:t>Smote </a:t>
            </a:r>
            <a:r>
              <a:rPr lang="en-US" altLang="en-US" sz="1600" dirty="0">
                <a:latin typeface="Arial" panose="020B0604020202020204" pitchFamily="34" charset="0"/>
              </a:rPr>
              <a:t>is used to address the problem of imbalance datasets</a:t>
            </a:r>
            <a:endParaRPr kumimoji="0" lang="en-US" altLang="en-US" sz="1600" b="1"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358990E-A657-D2D1-0C45-769FE32885B5}"/>
              </a:ext>
            </a:extLst>
          </p:cNvPr>
          <p:cNvSpPr txBox="1"/>
          <p:nvPr/>
        </p:nvSpPr>
        <p:spPr>
          <a:xfrm>
            <a:off x="6316050" y="490880"/>
            <a:ext cx="5229727" cy="830997"/>
          </a:xfrm>
          <a:prstGeom prst="rect">
            <a:avLst/>
          </a:prstGeom>
          <a:noFill/>
        </p:spPr>
        <p:txBody>
          <a:bodyPr wrap="square" rtlCol="0">
            <a:spAutoFit/>
          </a:bodyPr>
          <a:lstStyle/>
          <a:p>
            <a:r>
              <a:rPr lang="en-IN" sz="2400" dirty="0"/>
              <a:t>Potability Values in the term of Binary (0-1)</a:t>
            </a:r>
          </a:p>
        </p:txBody>
      </p:sp>
      <p:pic>
        <p:nvPicPr>
          <p:cNvPr id="5" name="Picture 4">
            <a:extLst>
              <a:ext uri="{FF2B5EF4-FFF2-40B4-BE49-F238E27FC236}">
                <a16:creationId xmlns:a16="http://schemas.microsoft.com/office/drawing/2014/main" id="{0FCD6E2C-BFE6-33A8-4770-FDBAAB6D2FD9}"/>
              </a:ext>
            </a:extLst>
          </p:cNvPr>
          <p:cNvPicPr>
            <a:picLocks noChangeAspect="1"/>
          </p:cNvPicPr>
          <p:nvPr/>
        </p:nvPicPr>
        <p:blipFill>
          <a:blip r:embed="rId2"/>
          <a:stretch>
            <a:fillRect/>
          </a:stretch>
        </p:blipFill>
        <p:spPr>
          <a:xfrm>
            <a:off x="6412204" y="1572126"/>
            <a:ext cx="5370381" cy="4273503"/>
          </a:xfrm>
          <a:prstGeom prst="rect">
            <a:avLst/>
          </a:prstGeom>
        </p:spPr>
      </p:pic>
    </p:spTree>
    <p:extLst>
      <p:ext uri="{BB962C8B-B14F-4D97-AF65-F5344CB8AC3E}">
        <p14:creationId xmlns:p14="http://schemas.microsoft.com/office/powerpoint/2010/main" val="3386548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826D4-498C-559A-7490-C0F9FA47364D}"/>
              </a:ext>
            </a:extLst>
          </p:cNvPr>
          <p:cNvSpPr txBox="1">
            <a:spLocks/>
          </p:cNvSpPr>
          <p:nvPr/>
        </p:nvSpPr>
        <p:spPr>
          <a:xfrm>
            <a:off x="303325" y="407723"/>
            <a:ext cx="7055274" cy="612775"/>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Exploratory Data Analysis</a:t>
            </a:r>
          </a:p>
        </p:txBody>
      </p:sp>
      <p:sp>
        <p:nvSpPr>
          <p:cNvPr id="3" name="Content Placeholder 2">
            <a:extLst>
              <a:ext uri="{FF2B5EF4-FFF2-40B4-BE49-F238E27FC236}">
                <a16:creationId xmlns:a16="http://schemas.microsoft.com/office/drawing/2014/main" id="{5F00F0DA-503F-51E7-09AD-34E186771ECA}"/>
              </a:ext>
            </a:extLst>
          </p:cNvPr>
          <p:cNvSpPr txBox="1">
            <a:spLocks/>
          </p:cNvSpPr>
          <p:nvPr/>
        </p:nvSpPr>
        <p:spPr>
          <a:xfrm>
            <a:off x="580911" y="1365920"/>
            <a:ext cx="7055274" cy="4398066"/>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IN" dirty="0"/>
              <a:t>Examine the data for any missing values, outliers and basic statistics. Missing values are common in such datasets and might need to be filled using mean, median or other imputation techniques.</a:t>
            </a:r>
          </a:p>
          <a:p>
            <a:r>
              <a:rPr lang="en-IN" dirty="0"/>
              <a:t>Feature Engineering: Certain features may benefit from transformations to normalize or standardize the data, which is often helpful for models sensitive to feature scales (support vector machines)</a:t>
            </a:r>
          </a:p>
        </p:txBody>
      </p:sp>
      <p:pic>
        <p:nvPicPr>
          <p:cNvPr id="4" name="Picture 3">
            <a:extLst>
              <a:ext uri="{FF2B5EF4-FFF2-40B4-BE49-F238E27FC236}">
                <a16:creationId xmlns:a16="http://schemas.microsoft.com/office/drawing/2014/main" id="{ADF33107-8AC6-1A9B-88BB-FEC91F30C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4288" y="489366"/>
            <a:ext cx="1587061" cy="3868919"/>
          </a:xfrm>
          <a:prstGeom prst="rect">
            <a:avLst/>
          </a:prstGeom>
        </p:spPr>
      </p:pic>
      <p:sp>
        <p:nvSpPr>
          <p:cNvPr id="5" name="Arrow: Right 4">
            <a:extLst>
              <a:ext uri="{FF2B5EF4-FFF2-40B4-BE49-F238E27FC236}">
                <a16:creationId xmlns:a16="http://schemas.microsoft.com/office/drawing/2014/main" id="{3ADC33A7-FD14-F5E1-114B-0CA0EB12911E}"/>
              </a:ext>
            </a:extLst>
          </p:cNvPr>
          <p:cNvSpPr/>
          <p:nvPr/>
        </p:nvSpPr>
        <p:spPr>
          <a:xfrm>
            <a:off x="8834027" y="4588417"/>
            <a:ext cx="834190" cy="477253"/>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6" name="Picture 5">
            <a:extLst>
              <a:ext uri="{FF2B5EF4-FFF2-40B4-BE49-F238E27FC236}">
                <a16:creationId xmlns:a16="http://schemas.microsoft.com/office/drawing/2014/main" id="{2E3C72F1-9D52-7B4B-A511-53AFE1697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5085" y="2653958"/>
            <a:ext cx="1756004" cy="3868919"/>
          </a:xfrm>
          <a:prstGeom prst="rect">
            <a:avLst/>
          </a:prstGeom>
        </p:spPr>
      </p:pic>
    </p:spTree>
    <p:extLst>
      <p:ext uri="{BB962C8B-B14F-4D97-AF65-F5344CB8AC3E}">
        <p14:creationId xmlns:p14="http://schemas.microsoft.com/office/powerpoint/2010/main" val="838940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9B92B6-6419-FA1C-B3CB-ED7410B63EB1}"/>
              </a:ext>
            </a:extLst>
          </p:cNvPr>
          <p:cNvSpPr txBox="1"/>
          <p:nvPr/>
        </p:nvSpPr>
        <p:spPr>
          <a:xfrm>
            <a:off x="160421" y="216568"/>
            <a:ext cx="11325726" cy="954107"/>
          </a:xfrm>
          <a:prstGeom prst="rect">
            <a:avLst/>
          </a:prstGeom>
          <a:noFill/>
        </p:spPr>
        <p:txBody>
          <a:bodyPr wrap="square" rtlCol="0">
            <a:spAutoFit/>
          </a:bodyPr>
          <a:lstStyle/>
          <a:p>
            <a:r>
              <a:rPr lang="en-IN" sz="2800" b="1" dirty="0"/>
              <a:t>CHECKING FOR THE OUTLIERS SO THAT THEY CAN BE REMOVED FOR MODEL BETTER PERFORMANCE</a:t>
            </a:r>
          </a:p>
        </p:txBody>
      </p:sp>
      <p:pic>
        <p:nvPicPr>
          <p:cNvPr id="3" name="Picture 2">
            <a:extLst>
              <a:ext uri="{FF2B5EF4-FFF2-40B4-BE49-F238E27FC236}">
                <a16:creationId xmlns:a16="http://schemas.microsoft.com/office/drawing/2014/main" id="{EEE879E5-E55C-D95C-27C2-4CCBFFBEF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36" y="1299411"/>
            <a:ext cx="10635917" cy="4792090"/>
          </a:xfrm>
          <a:prstGeom prst="rect">
            <a:avLst/>
          </a:prstGeom>
        </p:spPr>
      </p:pic>
    </p:spTree>
    <p:extLst>
      <p:ext uri="{BB962C8B-B14F-4D97-AF65-F5344CB8AC3E}">
        <p14:creationId xmlns:p14="http://schemas.microsoft.com/office/powerpoint/2010/main" val="1112504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8C918-B5B2-798B-16DA-5EBD13873614}"/>
              </a:ext>
            </a:extLst>
          </p:cNvPr>
          <p:cNvSpPr txBox="1">
            <a:spLocks/>
          </p:cNvSpPr>
          <p:nvPr/>
        </p:nvSpPr>
        <p:spPr>
          <a:xfrm>
            <a:off x="184484" y="378538"/>
            <a:ext cx="5911516" cy="1686429"/>
          </a:xfrm>
          <a:prstGeom prst="rect">
            <a:avLst/>
          </a:prstGeom>
        </p:spPr>
        <p:txBody>
          <a:bodyP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400" dirty="0">
                <a:solidFill>
                  <a:schemeClr val="tx1">
                    <a:lumMod val="50000"/>
                    <a:lumOff val="50000"/>
                  </a:schemeClr>
                </a:solidFill>
              </a:rPr>
              <a:t>Model Selection:</a:t>
            </a:r>
          </a:p>
          <a:p>
            <a:br>
              <a:rPr lang="en-IN" sz="2400" dirty="0">
                <a:solidFill>
                  <a:schemeClr val="tx1">
                    <a:lumMod val="50000"/>
                    <a:lumOff val="50000"/>
                  </a:schemeClr>
                </a:solidFill>
              </a:rPr>
            </a:br>
            <a:r>
              <a:rPr lang="en-IN" sz="2000" dirty="0"/>
              <a:t>Select an appropriate model to predict potability. Commonly used models for classifications include:</a:t>
            </a:r>
          </a:p>
        </p:txBody>
      </p:sp>
      <p:sp>
        <p:nvSpPr>
          <p:cNvPr id="3" name="Content Placeholder 2">
            <a:extLst>
              <a:ext uri="{FF2B5EF4-FFF2-40B4-BE49-F238E27FC236}">
                <a16:creationId xmlns:a16="http://schemas.microsoft.com/office/drawing/2014/main" id="{C5FA7923-568C-E0BD-1CD9-AA021A5F32C2}"/>
              </a:ext>
            </a:extLst>
          </p:cNvPr>
          <p:cNvSpPr txBox="1">
            <a:spLocks/>
          </p:cNvSpPr>
          <p:nvPr/>
        </p:nvSpPr>
        <p:spPr>
          <a:xfrm>
            <a:off x="1489338" y="2452890"/>
            <a:ext cx="5521425" cy="4680288"/>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IN" dirty="0"/>
              <a:t>Decision Tree</a:t>
            </a:r>
          </a:p>
          <a:p>
            <a:r>
              <a:rPr lang="en-IN" dirty="0"/>
              <a:t>Random Forest </a:t>
            </a:r>
          </a:p>
          <a:p>
            <a:r>
              <a:rPr lang="en-IN" dirty="0"/>
              <a:t>KNN-K-</a:t>
            </a:r>
            <a:r>
              <a:rPr lang="en-IN" dirty="0" err="1"/>
              <a:t>Neighbor</a:t>
            </a:r>
            <a:endParaRPr lang="en-IN" dirty="0"/>
          </a:p>
          <a:p>
            <a:r>
              <a:rPr lang="en-IN" dirty="0"/>
              <a:t>SVM</a:t>
            </a:r>
          </a:p>
          <a:p>
            <a:r>
              <a:rPr lang="en-IN" dirty="0"/>
              <a:t>XG-Boost</a:t>
            </a:r>
          </a:p>
          <a:p>
            <a:endParaRPr lang="en-IN" dirty="0"/>
          </a:p>
        </p:txBody>
      </p:sp>
      <p:pic>
        <p:nvPicPr>
          <p:cNvPr id="4" name="Picture 3">
            <a:extLst>
              <a:ext uri="{FF2B5EF4-FFF2-40B4-BE49-F238E27FC236}">
                <a16:creationId xmlns:a16="http://schemas.microsoft.com/office/drawing/2014/main" id="{D5D7939B-FCC9-32A2-8F08-40021124FACB}"/>
              </a:ext>
            </a:extLst>
          </p:cNvPr>
          <p:cNvPicPr>
            <a:picLocks noChangeAspect="1"/>
          </p:cNvPicPr>
          <p:nvPr/>
        </p:nvPicPr>
        <p:blipFill>
          <a:blip r:embed="rId2"/>
          <a:stretch>
            <a:fillRect/>
          </a:stretch>
        </p:blipFill>
        <p:spPr>
          <a:xfrm>
            <a:off x="5568043" y="488374"/>
            <a:ext cx="6439473" cy="5671794"/>
          </a:xfrm>
          <a:prstGeom prst="rect">
            <a:avLst/>
          </a:prstGeom>
        </p:spPr>
      </p:pic>
    </p:spTree>
    <p:extLst>
      <p:ext uri="{BB962C8B-B14F-4D97-AF65-F5344CB8AC3E}">
        <p14:creationId xmlns:p14="http://schemas.microsoft.com/office/powerpoint/2010/main" val="101784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DA1AF9B5-73A6-966D-48DE-8D381DBA8843}"/>
              </a:ext>
            </a:extLst>
          </p:cNvPr>
          <p:cNvSpPr txBox="1">
            <a:spLocks/>
          </p:cNvSpPr>
          <p:nvPr/>
        </p:nvSpPr>
        <p:spPr>
          <a:xfrm>
            <a:off x="436287" y="478471"/>
            <a:ext cx="11511643" cy="612775"/>
          </a:xfrm>
          <a:prstGeom prst="rect">
            <a:avLst/>
          </a:prstGeom>
        </p:spPr>
        <p:txBody>
          <a:bodyPr>
            <a:normAutofit fontScale="9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a:t>This is how I created my ml models with highest accuracy on Svm classifier</a:t>
            </a:r>
            <a:endParaRPr lang="en-US" sz="2800" dirty="0"/>
          </a:p>
        </p:txBody>
      </p:sp>
      <p:sp>
        <p:nvSpPr>
          <p:cNvPr id="3" name="Content Placeholder 4">
            <a:extLst>
              <a:ext uri="{FF2B5EF4-FFF2-40B4-BE49-F238E27FC236}">
                <a16:creationId xmlns:a16="http://schemas.microsoft.com/office/drawing/2014/main" id="{CF326251-8569-1E1D-75BB-E48A3105BC08}"/>
              </a:ext>
            </a:extLst>
          </p:cNvPr>
          <p:cNvSpPr txBox="1">
            <a:spLocks/>
          </p:cNvSpPr>
          <p:nvPr/>
        </p:nvSpPr>
        <p:spPr>
          <a:xfrm>
            <a:off x="376989" y="1091246"/>
            <a:ext cx="11136129" cy="4981895"/>
          </a:xfrm>
          <a:prstGeom prst="rect">
            <a:avLst/>
          </a:prstGeom>
        </p:spPr>
        <p:txBody>
          <a:bodyPr>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a:solidFill>
                  <a:schemeClr val="tx1">
                    <a:lumMod val="50000"/>
                    <a:lumOff val="50000"/>
                  </a:schemeClr>
                </a:solidFill>
              </a:rPr>
              <a:t>Data Analysis: </a:t>
            </a:r>
          </a:p>
          <a:p>
            <a:pPr marL="0" indent="0">
              <a:buFont typeface="Wingdings 3" charset="2"/>
              <a:buNone/>
            </a:pPr>
            <a:r>
              <a:rPr lang="en-US">
                <a:solidFill>
                  <a:schemeClr val="tx1">
                    <a:lumMod val="50000"/>
                    <a:lumOff val="50000"/>
                  </a:schemeClr>
                </a:solidFill>
              </a:rPr>
              <a:t>	</a:t>
            </a:r>
            <a:r>
              <a:rPr lang="en-US" sz="1600"/>
              <a:t>We explored relationships between features and potability, revealing trends in water quality metrics that contribute to 	water safety. This helped us understand the influence of various chemical and physical properties on potability.</a:t>
            </a:r>
          </a:p>
          <a:p>
            <a:r>
              <a:rPr lang="en-US">
                <a:solidFill>
                  <a:schemeClr val="tx1">
                    <a:lumMod val="50000"/>
                    <a:lumOff val="50000"/>
                  </a:schemeClr>
                </a:solidFill>
              </a:rPr>
              <a:t>Model Performance: </a:t>
            </a:r>
          </a:p>
          <a:p>
            <a:pPr marL="0" indent="0">
              <a:buFont typeface="Wingdings 3" charset="2"/>
              <a:buNone/>
            </a:pPr>
            <a:r>
              <a:rPr lang="en-US">
                <a:solidFill>
                  <a:schemeClr val="tx1">
                    <a:lumMod val="50000"/>
                    <a:lumOff val="50000"/>
                  </a:schemeClr>
                </a:solidFill>
              </a:rPr>
              <a:t>	</a:t>
            </a:r>
            <a:r>
              <a:rPr lang="en-US" sz="1600"/>
              <a:t>By training different machine learning models, we identified the best-performing model based on metrics like accuracy 	and precision. Ensemble methods, such as Random Forests, often performed well due to their ability to handle feature 	interactions and variances.</a:t>
            </a:r>
          </a:p>
          <a:p>
            <a:r>
              <a:rPr lang="en-US">
                <a:solidFill>
                  <a:schemeClr val="tx1">
                    <a:lumMod val="50000"/>
                    <a:lumOff val="50000"/>
                  </a:schemeClr>
                </a:solidFill>
              </a:rPr>
              <a:t>Challenges: </a:t>
            </a:r>
          </a:p>
          <a:p>
            <a:pPr marL="0" indent="0">
              <a:buFont typeface="Wingdings 3" charset="2"/>
              <a:buNone/>
            </a:pPr>
            <a:r>
              <a:rPr lang="en-US">
                <a:solidFill>
                  <a:schemeClr val="tx1">
                    <a:lumMod val="50000"/>
                    <a:lumOff val="50000"/>
                  </a:schemeClr>
                </a:solidFill>
              </a:rPr>
              <a:t>	</a:t>
            </a:r>
            <a:r>
              <a:rPr lang="en-US" sz="1600"/>
              <a:t>Missing values and varying distributions across features presented challenges. Data preprocessing steps like handling 	missing values and scaling helped improve model accuracy and stability.</a:t>
            </a:r>
          </a:p>
          <a:p>
            <a:r>
              <a:rPr lang="en-US">
                <a:solidFill>
                  <a:schemeClr val="tx1">
                    <a:lumMod val="50000"/>
                    <a:lumOff val="50000"/>
                  </a:schemeClr>
                </a:solidFill>
              </a:rPr>
              <a:t>Impact of Feature Engineering: </a:t>
            </a:r>
          </a:p>
          <a:p>
            <a:pPr marL="0" indent="0">
              <a:buFont typeface="Wingdings 3" charset="2"/>
              <a:buNone/>
            </a:pPr>
            <a:r>
              <a:rPr lang="en-US">
                <a:solidFill>
                  <a:schemeClr val="tx1">
                    <a:lumMod val="50000"/>
                    <a:lumOff val="50000"/>
                  </a:schemeClr>
                </a:solidFill>
              </a:rPr>
              <a:t>	</a:t>
            </a:r>
            <a:r>
              <a:rPr lang="en-US" sz="1700"/>
              <a:t>Scaling and normalization improved model performance, and hyperparameter tuning helped optimize the 	selected model. These steps were essential in achieving better predictive accuracy and reliability</a:t>
            </a:r>
            <a:endParaRPr lang="en-IN" sz="1700" dirty="0"/>
          </a:p>
        </p:txBody>
      </p:sp>
    </p:spTree>
    <p:extLst>
      <p:ext uri="{BB962C8B-B14F-4D97-AF65-F5344CB8AC3E}">
        <p14:creationId xmlns:p14="http://schemas.microsoft.com/office/powerpoint/2010/main" val="474322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E9875A-0175-831C-BB8B-FFD54CD1DE11}"/>
              </a:ext>
            </a:extLst>
          </p:cNvPr>
          <p:cNvSpPr txBox="1"/>
          <p:nvPr/>
        </p:nvSpPr>
        <p:spPr>
          <a:xfrm>
            <a:off x="144379" y="336885"/>
            <a:ext cx="4997116" cy="954107"/>
          </a:xfrm>
          <a:prstGeom prst="rect">
            <a:avLst/>
          </a:prstGeom>
          <a:noFill/>
        </p:spPr>
        <p:txBody>
          <a:bodyPr wrap="square" rtlCol="0">
            <a:spAutoFit/>
          </a:bodyPr>
          <a:lstStyle/>
          <a:p>
            <a:r>
              <a:rPr lang="en-IN" sz="2800" b="1" dirty="0"/>
              <a:t>CREATION OF HEAT MAP TO SHOW DIRECT RELATIONS</a:t>
            </a:r>
          </a:p>
        </p:txBody>
      </p:sp>
      <p:sp>
        <p:nvSpPr>
          <p:cNvPr id="3" name="Title 1">
            <a:extLst>
              <a:ext uri="{FF2B5EF4-FFF2-40B4-BE49-F238E27FC236}">
                <a16:creationId xmlns:a16="http://schemas.microsoft.com/office/drawing/2014/main" id="{E7938ADA-4616-7E8C-457C-BD0117057D99}"/>
              </a:ext>
            </a:extLst>
          </p:cNvPr>
          <p:cNvSpPr txBox="1">
            <a:spLocks/>
          </p:cNvSpPr>
          <p:nvPr/>
        </p:nvSpPr>
        <p:spPr>
          <a:xfrm>
            <a:off x="288759" y="1664367"/>
            <a:ext cx="5203762" cy="3754715"/>
          </a:xfrm>
          <a:prstGeom prst="rect">
            <a:avLst/>
          </a:prstGeom>
        </p:spPr>
        <p:txBody>
          <a:bodyPr>
            <a:normAutofit fontScale="975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Creating a heatmap is a great way to visualize correlations or patterns in a dataset, </a:t>
            </a:r>
            <a:br>
              <a:rPr lang="en-US" sz="2000" dirty="0"/>
            </a:br>
            <a:r>
              <a:rPr lang="en-US" sz="2000" dirty="0"/>
              <a:t>especially for water potability data where you want to see relationships between variables (like pH, hardness, etc.) and potability. </a:t>
            </a:r>
            <a:br>
              <a:rPr lang="en-US" sz="2000" dirty="0"/>
            </a:br>
            <a:r>
              <a:rPr lang="en-US" sz="2000" dirty="0"/>
              <a:t>In Python, you can use libraries such as Matplotlib and Seaborn to create heatmaps.</a:t>
            </a:r>
            <a:endParaRPr lang="en-IN" sz="2000" dirty="0"/>
          </a:p>
        </p:txBody>
      </p:sp>
      <p:pic>
        <p:nvPicPr>
          <p:cNvPr id="4" name="Content Placeholder 8">
            <a:extLst>
              <a:ext uri="{FF2B5EF4-FFF2-40B4-BE49-F238E27FC236}">
                <a16:creationId xmlns:a16="http://schemas.microsoft.com/office/drawing/2014/main" id="{35686756-86B5-3A52-EE13-EA736E845A1F}"/>
              </a:ext>
            </a:extLst>
          </p:cNvPr>
          <p:cNvPicPr>
            <a:picLocks noChangeAspect="1"/>
          </p:cNvPicPr>
          <p:nvPr/>
        </p:nvPicPr>
        <p:blipFill>
          <a:blip r:embed="rId2"/>
          <a:stretch>
            <a:fillRect/>
          </a:stretch>
        </p:blipFill>
        <p:spPr>
          <a:xfrm>
            <a:off x="5492521" y="1438918"/>
            <a:ext cx="6699479" cy="4327359"/>
          </a:xfrm>
          <a:prstGeom prst="rect">
            <a:avLst/>
          </a:prstGeom>
        </p:spPr>
      </p:pic>
    </p:spTree>
    <p:extLst>
      <p:ext uri="{BB962C8B-B14F-4D97-AF65-F5344CB8AC3E}">
        <p14:creationId xmlns:p14="http://schemas.microsoft.com/office/powerpoint/2010/main" val="4268961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9B1313B-C547-89AC-5175-6A8E42804A51}"/>
              </a:ext>
            </a:extLst>
          </p:cNvPr>
          <p:cNvSpPr txBox="1">
            <a:spLocks/>
          </p:cNvSpPr>
          <p:nvPr/>
        </p:nvSpPr>
        <p:spPr>
          <a:xfrm>
            <a:off x="408460" y="632804"/>
            <a:ext cx="11191988" cy="522228"/>
          </a:xfrm>
          <a:prstGeom prst="rect">
            <a:avLst/>
          </a:prstGeom>
        </p:spPr>
        <p:txBody>
          <a:bodyPr>
            <a:normAutofit fontScale="82500" lnSpcReduction="2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000"/>
              <a:t>Conclusion of the water Potability Prediction Project</a:t>
            </a:r>
            <a:endParaRPr lang="en-IN" sz="4000" dirty="0"/>
          </a:p>
        </p:txBody>
      </p:sp>
      <p:sp>
        <p:nvSpPr>
          <p:cNvPr id="3" name="TextBox 2">
            <a:extLst>
              <a:ext uri="{FF2B5EF4-FFF2-40B4-BE49-F238E27FC236}">
                <a16:creationId xmlns:a16="http://schemas.microsoft.com/office/drawing/2014/main" id="{54E7E17E-654C-A88D-96E9-9655F082366E}"/>
              </a:ext>
            </a:extLst>
          </p:cNvPr>
          <p:cNvSpPr txBox="1"/>
          <p:nvPr/>
        </p:nvSpPr>
        <p:spPr>
          <a:xfrm>
            <a:off x="408460" y="1155032"/>
            <a:ext cx="10491537" cy="4431983"/>
          </a:xfrm>
          <a:prstGeom prst="rect">
            <a:avLst/>
          </a:prstGeom>
          <a:noFill/>
        </p:spPr>
        <p:txBody>
          <a:bodyPr wrap="square" rtlCol="0">
            <a:spAutoFit/>
          </a:bodyPr>
          <a:lstStyle/>
          <a:p>
            <a:r>
              <a:rPr lang="en-US" sz="2200" dirty="0"/>
              <a:t>In this project, we built a machine learning model to predict the potability of water based on various water quality features such as </a:t>
            </a:r>
            <a:r>
              <a:rPr lang="en-US" sz="2200" dirty="0" err="1"/>
              <a:t>plt</a:t>
            </a:r>
            <a:r>
              <a:rPr lang="en-US" sz="2200" dirty="0"/>
              <a:t>, hardness, solids, chloramines, sulfate, conductivity, organic carbon, trihalomethanes, and turbidity, By analyzing and processing this data, we trained and evaluated several models, identifying the best one for predicting whether water samples safe to drink.</a:t>
            </a:r>
          </a:p>
          <a:p>
            <a:endParaRPr lang="en-US" sz="2000" dirty="0"/>
          </a:p>
          <a:p>
            <a:r>
              <a:rPr lang="en-US" sz="2000" b="1" dirty="0"/>
              <a:t>Conclusion</a:t>
            </a:r>
          </a:p>
          <a:p>
            <a:r>
              <a:rPr lang="en-US" sz="2200" dirty="0"/>
              <a:t>Our final model effectively predicts water potability based on the provided quality metrics, demonstrating that machine learning can be a valuable tool for water quality assessment. Such a model can assist in real-time water monitoring, aiding authorities and communities in ensuring safe drinking water, However, model accuracy and reliability may be further improved with more data, especially if it includes additional environmental and seasonal factors.</a:t>
            </a:r>
            <a:endParaRPr lang="en-IN" sz="2200" dirty="0"/>
          </a:p>
        </p:txBody>
      </p:sp>
    </p:spTree>
    <p:extLst>
      <p:ext uri="{BB962C8B-B14F-4D97-AF65-F5344CB8AC3E}">
        <p14:creationId xmlns:p14="http://schemas.microsoft.com/office/powerpoint/2010/main" val="2713632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544883-57EB-E014-455B-445943BC25F0}"/>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5977286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Ion</Template>
  <TotalTime>9</TotalTime>
  <Words>800</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Century Gothic</vt:lpstr>
      <vt:lpstr>Comic Sans MS</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Kumar</dc:creator>
  <cp:lastModifiedBy>Abhishek Kumar</cp:lastModifiedBy>
  <cp:revision>1</cp:revision>
  <dcterms:created xsi:type="dcterms:W3CDTF">2026-04-05T05:46:38Z</dcterms:created>
  <dcterms:modified xsi:type="dcterms:W3CDTF">2026-04-05T05:56:01Z</dcterms:modified>
</cp:coreProperties>
</file>